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6" r:id="rId5"/>
    <p:sldId id="257" r:id="rId6"/>
    <p:sldId id="260" r:id="rId7"/>
    <p:sldId id="258" r:id="rId8"/>
    <p:sldId id="261" r:id="rId9"/>
    <p:sldId id="286" r:id="rId10"/>
    <p:sldId id="287" r:id="rId11"/>
    <p:sldId id="28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B7C6"/>
    <a:srgbClr val="103350"/>
    <a:srgbClr val="0C4360"/>
    <a:srgbClr val="1B6872"/>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40" y="6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4/27/2026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213100" y="1517829"/>
            <a:ext cx="5765800" cy="818971"/>
          </a:xfrm>
        </p:spPr>
        <p:txBody>
          <a:bodyPr/>
          <a:lstStyle/>
          <a:p>
            <a:pPr algn="ctr"/>
            <a:r>
              <a:rPr lang="en-US" sz="2000" dirty="0">
                <a:latin typeface="Broadway" panose="04040905080B02020502" pitchFamily="82" charset="0"/>
                <a:cs typeface="Aharoni" panose="020F0502020204030204" pitchFamily="2" charset="-79"/>
              </a:rPr>
              <a:t>Customer Churn Prediction and Customer lifetime Value Estimation</a:t>
            </a:r>
          </a:p>
        </p:txBody>
      </p:sp>
      <p:sp>
        <p:nvSpPr>
          <p:cNvPr id="5" name="TextBox 4">
            <a:extLst>
              <a:ext uri="{FF2B5EF4-FFF2-40B4-BE49-F238E27FC236}">
                <a16:creationId xmlns:a16="http://schemas.microsoft.com/office/drawing/2014/main" id="{76F286D3-D130-BFC9-D66B-1F42E025B83B}"/>
              </a:ext>
            </a:extLst>
          </p:cNvPr>
          <p:cNvSpPr txBox="1"/>
          <p:nvPr/>
        </p:nvSpPr>
        <p:spPr>
          <a:xfrm flipH="1">
            <a:off x="3479800" y="317500"/>
            <a:ext cx="4826000" cy="1200329"/>
          </a:xfrm>
          <a:prstGeom prst="rect">
            <a:avLst/>
          </a:prstGeom>
          <a:noFill/>
        </p:spPr>
        <p:txBody>
          <a:bodyPr wrap="square" rtlCol="0">
            <a:spAutoFit/>
          </a:bodyPr>
          <a:lstStyle/>
          <a:p>
            <a:pPr algn="ctr"/>
            <a:r>
              <a:rPr lang="en-US" b="1" dirty="0">
                <a:solidFill>
                  <a:srgbClr val="63B7C6"/>
                </a:solidFill>
                <a:latin typeface="Aharoni" panose="02010803020104030203" pitchFamily="2" charset="-79"/>
                <a:cs typeface="Aharoni" panose="02010803020104030203" pitchFamily="2" charset="-79"/>
              </a:rPr>
              <a:t>A </a:t>
            </a:r>
          </a:p>
          <a:p>
            <a:pPr algn="ctr"/>
            <a:r>
              <a:rPr lang="en-US" b="1" dirty="0">
                <a:solidFill>
                  <a:srgbClr val="63B7C6"/>
                </a:solidFill>
                <a:latin typeface="Aharoni" panose="02010803020104030203" pitchFamily="2" charset="-79"/>
                <a:cs typeface="Aharoni" panose="02010803020104030203" pitchFamily="2" charset="-79"/>
              </a:rPr>
              <a:t>Major Project </a:t>
            </a:r>
          </a:p>
          <a:p>
            <a:pPr algn="ctr"/>
            <a:r>
              <a:rPr lang="en-US" b="1" dirty="0">
                <a:solidFill>
                  <a:srgbClr val="63B7C6"/>
                </a:solidFill>
                <a:latin typeface="Aharoni" panose="02010803020104030203" pitchFamily="2" charset="-79"/>
                <a:cs typeface="Aharoni" panose="02010803020104030203" pitchFamily="2" charset="-79"/>
              </a:rPr>
              <a:t>Presentation</a:t>
            </a:r>
          </a:p>
          <a:p>
            <a:pPr algn="ctr"/>
            <a:r>
              <a:rPr lang="en-US" b="1" dirty="0">
                <a:solidFill>
                  <a:srgbClr val="63B7C6"/>
                </a:solidFill>
                <a:latin typeface="Aharoni" panose="02010803020104030203" pitchFamily="2" charset="-79"/>
                <a:cs typeface="Aharoni" panose="02010803020104030203" pitchFamily="2" charset="-79"/>
              </a:rPr>
              <a:t> on</a:t>
            </a:r>
            <a:endParaRPr lang="en-IN" b="1" dirty="0">
              <a:solidFill>
                <a:srgbClr val="63B7C6"/>
              </a:solidFill>
              <a:latin typeface="Aharoni" panose="02010803020104030203" pitchFamily="2" charset="-79"/>
              <a:cs typeface="Aharoni" panose="02010803020104030203" pitchFamily="2" charset="-79"/>
            </a:endParaRPr>
          </a:p>
        </p:txBody>
      </p:sp>
      <p:sp>
        <p:nvSpPr>
          <p:cNvPr id="8" name="TextBox 7">
            <a:extLst>
              <a:ext uri="{FF2B5EF4-FFF2-40B4-BE49-F238E27FC236}">
                <a16:creationId xmlns:a16="http://schemas.microsoft.com/office/drawing/2014/main" id="{FF762F18-E10D-C752-69F0-937D3E410251}"/>
              </a:ext>
            </a:extLst>
          </p:cNvPr>
          <p:cNvSpPr txBox="1"/>
          <p:nvPr/>
        </p:nvSpPr>
        <p:spPr>
          <a:xfrm>
            <a:off x="3746500" y="2613797"/>
            <a:ext cx="4559300" cy="1200329"/>
          </a:xfrm>
          <a:prstGeom prst="rect">
            <a:avLst/>
          </a:prstGeom>
          <a:noFill/>
        </p:spPr>
        <p:txBody>
          <a:bodyPr wrap="square" rtlCol="0">
            <a:spAutoFit/>
          </a:bodyPr>
          <a:lstStyle/>
          <a:p>
            <a:pPr algn="ctr"/>
            <a:r>
              <a:rPr lang="en-US" dirty="0">
                <a:solidFill>
                  <a:srgbClr val="63B7C6"/>
                </a:solidFill>
                <a:latin typeface="Arial Rounded MT Bold" panose="020F0704030504030204" pitchFamily="34" charset="0"/>
                <a:cs typeface="Aharoni" panose="02010803020104030203" pitchFamily="2" charset="-79"/>
              </a:rPr>
              <a:t>Submitted by</a:t>
            </a:r>
          </a:p>
          <a:p>
            <a:pPr algn="ctr"/>
            <a:r>
              <a:rPr lang="en-US" dirty="0">
                <a:solidFill>
                  <a:srgbClr val="63B7C6"/>
                </a:solidFill>
                <a:latin typeface="Arial Rounded MT Bold" panose="020F0704030504030204" pitchFamily="34" charset="0"/>
                <a:cs typeface="Aharoni" panose="02010803020104030203" pitchFamily="2" charset="-79"/>
              </a:rPr>
              <a:t>Riya Singh     (0228CS221149)</a:t>
            </a:r>
          </a:p>
          <a:p>
            <a:pPr algn="ctr"/>
            <a:r>
              <a:rPr lang="en-US" dirty="0">
                <a:solidFill>
                  <a:srgbClr val="63B7C6"/>
                </a:solidFill>
                <a:latin typeface="Arial Rounded MT Bold" panose="020F0704030504030204" pitchFamily="34" charset="0"/>
                <a:cs typeface="Aharoni" panose="02010803020104030203" pitchFamily="2" charset="-79"/>
              </a:rPr>
              <a:t>Palak Patel    (0228CS221124)</a:t>
            </a:r>
            <a:endParaRPr lang="en-IN" dirty="0">
              <a:solidFill>
                <a:srgbClr val="63B7C6"/>
              </a:solidFill>
              <a:latin typeface="Arial Rounded MT Bold" panose="020F0704030504030204" pitchFamily="34" charset="0"/>
              <a:cs typeface="Aharoni" panose="02010803020104030203" pitchFamily="2" charset="-79"/>
            </a:endParaRPr>
          </a:p>
          <a:p>
            <a:endParaRPr lang="en-IN" dirty="0"/>
          </a:p>
        </p:txBody>
      </p:sp>
      <p:sp>
        <p:nvSpPr>
          <p:cNvPr id="10" name="TextBox 9">
            <a:extLst>
              <a:ext uri="{FF2B5EF4-FFF2-40B4-BE49-F238E27FC236}">
                <a16:creationId xmlns:a16="http://schemas.microsoft.com/office/drawing/2014/main" id="{D038B59D-5353-04B1-914B-CD0BF4459F50}"/>
              </a:ext>
            </a:extLst>
          </p:cNvPr>
          <p:cNvSpPr txBox="1"/>
          <p:nvPr/>
        </p:nvSpPr>
        <p:spPr>
          <a:xfrm>
            <a:off x="3092450" y="3814126"/>
            <a:ext cx="6007100" cy="1754326"/>
          </a:xfrm>
          <a:prstGeom prst="rect">
            <a:avLst/>
          </a:prstGeom>
          <a:noFill/>
        </p:spPr>
        <p:txBody>
          <a:bodyPr wrap="square" rtlCol="0">
            <a:spAutoFit/>
          </a:bodyPr>
          <a:lstStyle/>
          <a:p>
            <a:pPr algn="ctr"/>
            <a:endParaRPr lang="en-US" dirty="0">
              <a:solidFill>
                <a:srgbClr val="63B7C6"/>
              </a:solidFill>
              <a:latin typeface="Aharoni" panose="02010803020104030203" pitchFamily="2" charset="-79"/>
              <a:cs typeface="Aharoni" panose="02010803020104030203" pitchFamily="2" charset="-79"/>
            </a:endParaRPr>
          </a:p>
          <a:p>
            <a:pPr algn="ctr"/>
            <a:r>
              <a:rPr lang="en-US" dirty="0">
                <a:solidFill>
                  <a:srgbClr val="63B7C6"/>
                </a:solidFill>
                <a:latin typeface="Aharoni" panose="02010803020104030203" pitchFamily="2" charset="-79"/>
                <a:cs typeface="Aharoni" panose="02010803020104030203" pitchFamily="2" charset="-79"/>
              </a:rPr>
              <a:t>Under the guidance of</a:t>
            </a:r>
          </a:p>
          <a:p>
            <a:pPr algn="ctr"/>
            <a:r>
              <a:rPr lang="en-US" b="1" i="1" dirty="0">
                <a:solidFill>
                  <a:srgbClr val="63B7C6"/>
                </a:solidFill>
              </a:rPr>
              <a:t>Prof. Nitin Shukla</a:t>
            </a:r>
            <a:endParaRPr lang="en-IN" b="1" dirty="0">
              <a:solidFill>
                <a:srgbClr val="63B7C6"/>
              </a:solidFill>
            </a:endParaRPr>
          </a:p>
          <a:p>
            <a:pPr algn="ctr"/>
            <a:r>
              <a:rPr lang="en-US" dirty="0">
                <a:solidFill>
                  <a:srgbClr val="63B7C6"/>
                </a:solidFill>
              </a:rPr>
              <a:t>Head of Department </a:t>
            </a:r>
            <a:endParaRPr lang="en-IN" b="1" i="1" dirty="0">
              <a:solidFill>
                <a:srgbClr val="63B7C6"/>
              </a:solidFill>
            </a:endParaRPr>
          </a:p>
          <a:p>
            <a:pPr algn="ctr"/>
            <a:r>
              <a:rPr lang="en-US" dirty="0">
                <a:solidFill>
                  <a:srgbClr val="63B7C6"/>
                </a:solidFill>
              </a:rPr>
              <a:t> Computer Science</a:t>
            </a:r>
            <a:endParaRPr lang="en-IN" b="1" i="1" dirty="0">
              <a:solidFill>
                <a:srgbClr val="63B7C6"/>
              </a:solidFill>
            </a:endParaRPr>
          </a:p>
          <a:p>
            <a:pPr algn="ctr"/>
            <a:endParaRPr lang="en-IN" dirty="0">
              <a:solidFill>
                <a:srgbClr val="63B7C6"/>
              </a:solidFill>
              <a:latin typeface="Aharoni" panose="02010803020104030203" pitchFamily="2" charset="-79"/>
              <a:cs typeface="Aharoni" panose="02010803020104030203" pitchFamily="2" charset="-79"/>
            </a:endParaRPr>
          </a:p>
        </p:txBody>
      </p:sp>
      <p:sp>
        <p:nvSpPr>
          <p:cNvPr id="12" name="TextBox 11">
            <a:extLst>
              <a:ext uri="{FF2B5EF4-FFF2-40B4-BE49-F238E27FC236}">
                <a16:creationId xmlns:a16="http://schemas.microsoft.com/office/drawing/2014/main" id="{9165A8A9-DC3D-D51E-0568-13E4F611E739}"/>
              </a:ext>
            </a:extLst>
          </p:cNvPr>
          <p:cNvSpPr txBox="1"/>
          <p:nvPr/>
        </p:nvSpPr>
        <p:spPr>
          <a:xfrm flipH="1">
            <a:off x="2476500" y="5912199"/>
            <a:ext cx="7416800" cy="923330"/>
          </a:xfrm>
          <a:prstGeom prst="rect">
            <a:avLst/>
          </a:prstGeom>
          <a:noFill/>
        </p:spPr>
        <p:txBody>
          <a:bodyPr wrap="square" rtlCol="0">
            <a:spAutoFit/>
          </a:bodyPr>
          <a:lstStyle/>
          <a:p>
            <a:pPr algn="ctr"/>
            <a:r>
              <a:rPr lang="en-US" b="1" dirty="0">
                <a:solidFill>
                  <a:srgbClr val="63B7C6"/>
                </a:solidFill>
              </a:rPr>
              <a:t>SHRI RAM GROUP OF INSTITUTIONS (SRGI), JABALPUR</a:t>
            </a:r>
            <a:endParaRPr lang="en-IN" dirty="0">
              <a:solidFill>
                <a:srgbClr val="63B7C6"/>
              </a:solidFill>
            </a:endParaRPr>
          </a:p>
          <a:p>
            <a:pPr algn="ctr"/>
            <a:r>
              <a:rPr lang="en-US" b="1" dirty="0">
                <a:solidFill>
                  <a:srgbClr val="63B7C6"/>
                </a:solidFill>
              </a:rPr>
              <a:t>2026</a:t>
            </a:r>
            <a:endParaRPr lang="en-IN" dirty="0">
              <a:solidFill>
                <a:srgbClr val="63B7C6"/>
              </a:solidFill>
            </a:endParaRPr>
          </a:p>
          <a:p>
            <a:pPr algn="ctr"/>
            <a:endParaRPr lang="en-IN" dirty="0"/>
          </a:p>
        </p:txBody>
      </p:sp>
      <p:pic>
        <p:nvPicPr>
          <p:cNvPr id="15" name="Picture 14" descr="Picture">
            <a:extLst>
              <a:ext uri="{FF2B5EF4-FFF2-40B4-BE49-F238E27FC236}">
                <a16:creationId xmlns:a16="http://schemas.microsoft.com/office/drawing/2014/main" id="{FC69EE22-4B1D-FCDD-CADB-E40177F5F9EA}"/>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Title 5">
            <a:extLst>
              <a:ext uri="{FF2B5EF4-FFF2-40B4-BE49-F238E27FC236}">
                <a16:creationId xmlns:a16="http://schemas.microsoft.com/office/drawing/2014/main" id="{E883D37D-1472-518C-D876-78B8E6C1EC93}"/>
              </a:ext>
            </a:extLst>
          </p:cNvPr>
          <p:cNvSpPr>
            <a:spLocks noGrp="1"/>
          </p:cNvSpPr>
          <p:nvPr>
            <p:ph type="title"/>
          </p:nvPr>
        </p:nvSpPr>
        <p:spPr>
          <a:xfrm>
            <a:off x="3568700" y="88900"/>
            <a:ext cx="4673600" cy="876300"/>
          </a:xfrm>
        </p:spPr>
        <p:txBody>
          <a:bodyPr>
            <a:normAutofit/>
          </a:bodyPr>
          <a:lstStyle/>
          <a:p>
            <a:pPr algn="ctr"/>
            <a:r>
              <a:rPr lang="en-US" sz="3600" dirty="0">
                <a:solidFill>
                  <a:srgbClr val="63B7C6"/>
                </a:solidFill>
                <a:latin typeface="Aharoni" panose="02010803020104030203" pitchFamily="2" charset="-79"/>
                <a:cs typeface="Aharoni" panose="02010803020104030203" pitchFamily="2" charset="-79"/>
              </a:rPr>
              <a:t>INTRODUCTION</a:t>
            </a:r>
            <a:endParaRPr lang="en-IN" sz="3600" dirty="0">
              <a:solidFill>
                <a:srgbClr val="63B7C6"/>
              </a:solidFill>
              <a:latin typeface="Aharoni" panose="02010803020104030203" pitchFamily="2" charset="-79"/>
              <a:cs typeface="Aharoni" panose="02010803020104030203" pitchFamily="2" charset="-79"/>
            </a:endParaRPr>
          </a:p>
        </p:txBody>
      </p:sp>
      <p:sp>
        <p:nvSpPr>
          <p:cNvPr id="8" name="TextBox 7">
            <a:extLst>
              <a:ext uri="{FF2B5EF4-FFF2-40B4-BE49-F238E27FC236}">
                <a16:creationId xmlns:a16="http://schemas.microsoft.com/office/drawing/2014/main" id="{79CDDC27-F9F3-B042-9C76-1E7929AB7BD1}"/>
              </a:ext>
            </a:extLst>
          </p:cNvPr>
          <p:cNvSpPr txBox="1"/>
          <p:nvPr/>
        </p:nvSpPr>
        <p:spPr>
          <a:xfrm>
            <a:off x="241300" y="1905000"/>
            <a:ext cx="8229600" cy="3693319"/>
          </a:xfrm>
          <a:prstGeom prst="rect">
            <a:avLst/>
          </a:prstGeom>
          <a:noFill/>
        </p:spPr>
        <p:txBody>
          <a:bodyPr wrap="square" rtlCol="0">
            <a:spAutoFit/>
          </a:bodyPr>
          <a:lstStyle/>
          <a:p>
            <a:r>
              <a:rPr lang="en-US" b="1" dirty="0">
                <a:solidFill>
                  <a:srgbClr val="63B7C6"/>
                </a:solidFill>
              </a:rPr>
              <a:t>Hello everyone,</a:t>
            </a:r>
            <a:br>
              <a:rPr lang="en-US" dirty="0">
                <a:solidFill>
                  <a:srgbClr val="63B7C6"/>
                </a:solidFill>
              </a:rPr>
            </a:br>
            <a:r>
              <a:rPr lang="en-US" dirty="0">
                <a:solidFill>
                  <a:srgbClr val="63B7C6"/>
                </a:solidFill>
              </a:rPr>
              <a:t>We are </a:t>
            </a:r>
            <a:r>
              <a:rPr lang="en-US" b="1" dirty="0">
                <a:solidFill>
                  <a:srgbClr val="63B7C6"/>
                </a:solidFill>
              </a:rPr>
              <a:t>Riya Singh </a:t>
            </a:r>
            <a:r>
              <a:rPr lang="en-US" dirty="0">
                <a:solidFill>
                  <a:srgbClr val="63B7C6"/>
                </a:solidFill>
              </a:rPr>
              <a:t>and</a:t>
            </a:r>
            <a:r>
              <a:rPr lang="en-US" b="1" dirty="0">
                <a:solidFill>
                  <a:srgbClr val="63B7C6"/>
                </a:solidFill>
              </a:rPr>
              <a:t> Palak Patel</a:t>
            </a:r>
            <a:r>
              <a:rPr lang="en-US" dirty="0">
                <a:solidFill>
                  <a:srgbClr val="63B7C6"/>
                </a:solidFill>
              </a:rPr>
              <a:t>, and today I am presenting my project on </a:t>
            </a:r>
            <a:r>
              <a:rPr lang="en-US" b="1" dirty="0">
                <a:solidFill>
                  <a:srgbClr val="63B7C6"/>
                </a:solidFill>
              </a:rPr>
              <a:t>Customer Churn Prediction</a:t>
            </a:r>
            <a:r>
              <a:rPr lang="en-US" dirty="0">
                <a:solidFill>
                  <a:srgbClr val="63B7C6"/>
                </a:solidFill>
              </a:rPr>
              <a:t>.</a:t>
            </a:r>
          </a:p>
          <a:p>
            <a:r>
              <a:rPr lang="en-US" dirty="0">
                <a:solidFill>
                  <a:srgbClr val="63B7C6"/>
                </a:solidFill>
              </a:rPr>
              <a:t>This project is based on machine learning techniques used to identify customers who are likely to leave a company’s services. Customer churn is an important business problem because losing customers directly affects company revenue and growth.</a:t>
            </a:r>
          </a:p>
          <a:p>
            <a:r>
              <a:rPr lang="en-US" dirty="0">
                <a:solidFill>
                  <a:srgbClr val="63B7C6"/>
                </a:solidFill>
              </a:rPr>
              <a:t>The main objective of this project is to analyze customer data, build a predictive model, and help businesses take preventive actions to retain valuable customers.</a:t>
            </a:r>
          </a:p>
          <a:p>
            <a:r>
              <a:rPr lang="en-US" dirty="0">
                <a:solidFill>
                  <a:srgbClr val="63B7C6"/>
                </a:solidFill>
              </a:rPr>
              <a:t>In this presentation, I will explain the project objective, methodology, technologies used, model development, and final results.</a:t>
            </a:r>
          </a:p>
          <a:p>
            <a:endParaRPr lang="en-IN" dirty="0"/>
          </a:p>
        </p:txBody>
      </p:sp>
      <p:pic>
        <p:nvPicPr>
          <p:cNvPr id="9" name="Picture 8" descr="Picture">
            <a:extLst>
              <a:ext uri="{FF2B5EF4-FFF2-40B4-BE49-F238E27FC236}">
                <a16:creationId xmlns:a16="http://schemas.microsoft.com/office/drawing/2014/main" id="{76D7F5F5-01AD-6647-9EEC-80EF967D22C4}"/>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290279431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7" name="TextBox 6">
            <a:extLst>
              <a:ext uri="{FF2B5EF4-FFF2-40B4-BE49-F238E27FC236}">
                <a16:creationId xmlns:a16="http://schemas.microsoft.com/office/drawing/2014/main" id="{F2B9AD8B-A34F-A0F7-9CAA-C6B4438FAA17}"/>
              </a:ext>
            </a:extLst>
          </p:cNvPr>
          <p:cNvSpPr txBox="1"/>
          <p:nvPr/>
        </p:nvSpPr>
        <p:spPr>
          <a:xfrm>
            <a:off x="2438400" y="254000"/>
            <a:ext cx="6608318" cy="646331"/>
          </a:xfrm>
          <a:prstGeom prst="rect">
            <a:avLst/>
          </a:prstGeom>
          <a:noFill/>
        </p:spPr>
        <p:txBody>
          <a:bodyPr wrap="square" rtlCol="0">
            <a:spAutoFit/>
          </a:bodyPr>
          <a:lstStyle/>
          <a:p>
            <a:pPr algn="ctr"/>
            <a:r>
              <a:rPr lang="en-US" sz="3600" b="1" dirty="0">
                <a:solidFill>
                  <a:srgbClr val="63B7C6"/>
                </a:solidFill>
                <a:latin typeface="Aharoni" panose="02010803020104030203" pitchFamily="2" charset="-79"/>
                <a:cs typeface="Aharoni" panose="02010803020104030203" pitchFamily="2" charset="-79"/>
              </a:rPr>
              <a:t>PROBLEM STATEMENT</a:t>
            </a:r>
            <a:endParaRPr lang="en-IN" sz="3600" b="1" dirty="0">
              <a:solidFill>
                <a:srgbClr val="63B7C6"/>
              </a:solidFill>
              <a:latin typeface="Aharoni" panose="02010803020104030203" pitchFamily="2" charset="-79"/>
              <a:cs typeface="Aharoni" panose="02010803020104030203" pitchFamily="2" charset="-79"/>
            </a:endParaRPr>
          </a:p>
        </p:txBody>
      </p:sp>
      <p:sp>
        <p:nvSpPr>
          <p:cNvPr id="8" name="TextBox 7">
            <a:extLst>
              <a:ext uri="{FF2B5EF4-FFF2-40B4-BE49-F238E27FC236}">
                <a16:creationId xmlns:a16="http://schemas.microsoft.com/office/drawing/2014/main" id="{51360DD1-A03B-765A-6A07-4474F8BB3916}"/>
              </a:ext>
            </a:extLst>
          </p:cNvPr>
          <p:cNvSpPr txBox="1"/>
          <p:nvPr/>
        </p:nvSpPr>
        <p:spPr>
          <a:xfrm>
            <a:off x="296418" y="1816100"/>
            <a:ext cx="8940800" cy="2585323"/>
          </a:xfrm>
          <a:prstGeom prst="rect">
            <a:avLst/>
          </a:prstGeom>
          <a:noFill/>
        </p:spPr>
        <p:txBody>
          <a:bodyPr wrap="square" rtlCol="0">
            <a:spAutoFit/>
          </a:bodyPr>
          <a:lstStyle/>
          <a:p>
            <a:r>
              <a:rPr lang="en-US" dirty="0">
                <a:solidFill>
                  <a:srgbClr val="63B7C6"/>
                </a:solidFill>
              </a:rPr>
              <a:t>Customer churn is a major challenge for companies in competitive markets. Many customers discontinue services due to dissatisfaction, better offers from competitors, or changing needs. Losing customers reduces revenue and increases the cost of acquiring new customers.</a:t>
            </a:r>
          </a:p>
          <a:p>
            <a:r>
              <a:rPr lang="en-US" dirty="0">
                <a:solidFill>
                  <a:srgbClr val="63B7C6"/>
                </a:solidFill>
              </a:rPr>
              <a:t>The problem is to identify customers who are likely to leave the company in advance by analyzing historical customer data. Using machine learning, this project aims to predict churn and help businesses take timely actions to improve customer retention and customer satisfaction.</a:t>
            </a:r>
          </a:p>
          <a:p>
            <a:endParaRPr lang="en-IN" dirty="0"/>
          </a:p>
        </p:txBody>
      </p:sp>
      <p:pic>
        <p:nvPicPr>
          <p:cNvPr id="11" name="Picture 10" descr="Picture">
            <a:extLst>
              <a:ext uri="{FF2B5EF4-FFF2-40B4-BE49-F238E27FC236}">
                <a16:creationId xmlns:a16="http://schemas.microsoft.com/office/drawing/2014/main" id="{F7C0825D-84D9-80C1-6C83-6D0F02DEFF5F}"/>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70982875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9" name="TextBox 8">
            <a:extLst>
              <a:ext uri="{FF2B5EF4-FFF2-40B4-BE49-F238E27FC236}">
                <a16:creationId xmlns:a16="http://schemas.microsoft.com/office/drawing/2014/main" id="{7F7A2DE4-1D12-C160-129F-B5FBF276D241}"/>
              </a:ext>
            </a:extLst>
          </p:cNvPr>
          <p:cNvSpPr txBox="1"/>
          <p:nvPr/>
        </p:nvSpPr>
        <p:spPr>
          <a:xfrm flipH="1">
            <a:off x="4635500" y="165100"/>
            <a:ext cx="1879600" cy="646331"/>
          </a:xfrm>
          <a:prstGeom prst="rect">
            <a:avLst/>
          </a:prstGeom>
          <a:noFill/>
        </p:spPr>
        <p:txBody>
          <a:bodyPr wrap="square" rtlCol="0">
            <a:spAutoFit/>
          </a:bodyPr>
          <a:lstStyle/>
          <a:p>
            <a:pPr algn="ctr"/>
            <a:r>
              <a:rPr lang="en-US" sz="3600" b="1" dirty="0">
                <a:solidFill>
                  <a:srgbClr val="63B7C6"/>
                </a:solidFill>
                <a:latin typeface="Aharoni" panose="02010803020104030203" pitchFamily="2" charset="-79"/>
                <a:cs typeface="Aharoni" panose="02010803020104030203" pitchFamily="2" charset="-79"/>
              </a:rPr>
              <a:t>SCOPE</a:t>
            </a:r>
            <a:r>
              <a:rPr lang="en-US" dirty="0"/>
              <a:t> </a:t>
            </a:r>
            <a:endParaRPr lang="en-IN" dirty="0"/>
          </a:p>
        </p:txBody>
      </p:sp>
      <p:sp>
        <p:nvSpPr>
          <p:cNvPr id="11" name="TextBox 10">
            <a:extLst>
              <a:ext uri="{FF2B5EF4-FFF2-40B4-BE49-F238E27FC236}">
                <a16:creationId xmlns:a16="http://schemas.microsoft.com/office/drawing/2014/main" id="{903063B6-6F91-BACF-6B31-91CF6175F2E0}"/>
              </a:ext>
            </a:extLst>
          </p:cNvPr>
          <p:cNvSpPr txBox="1"/>
          <p:nvPr/>
        </p:nvSpPr>
        <p:spPr>
          <a:xfrm>
            <a:off x="355600" y="1859339"/>
            <a:ext cx="9728200" cy="3139321"/>
          </a:xfrm>
          <a:prstGeom prst="rect">
            <a:avLst/>
          </a:prstGeom>
          <a:noFill/>
        </p:spPr>
        <p:txBody>
          <a:bodyPr wrap="square" rtlCol="0">
            <a:spAutoFit/>
          </a:bodyPr>
          <a:lstStyle/>
          <a:p>
            <a:r>
              <a:rPr lang="en-US" dirty="0">
                <a:solidFill>
                  <a:srgbClr val="63B7C6"/>
                </a:solidFill>
              </a:rPr>
              <a:t>This project focuses on predicting customer churn using machine learning techniques based on customer demographic, service usage, and billing data.</a:t>
            </a:r>
          </a:p>
          <a:p>
            <a:endParaRPr lang="en-US" dirty="0">
              <a:solidFill>
                <a:srgbClr val="63B7C6"/>
              </a:solidFill>
            </a:endParaRPr>
          </a:p>
          <a:p>
            <a:r>
              <a:rPr lang="en-US" dirty="0">
                <a:solidFill>
                  <a:srgbClr val="63B7C6"/>
                </a:solidFill>
              </a:rPr>
              <a:t>The scope of this project includes:</a:t>
            </a:r>
          </a:p>
          <a:p>
            <a:pPr marL="285750" indent="-285750">
              <a:buFont typeface="Arial" panose="020B0604020202020204" pitchFamily="34" charset="0"/>
              <a:buChar char="•"/>
            </a:pPr>
            <a:r>
              <a:rPr lang="en-US" dirty="0">
                <a:solidFill>
                  <a:srgbClr val="63B7C6"/>
                </a:solidFill>
              </a:rPr>
              <a:t>Collecting and preprocessing customer data for analysis. </a:t>
            </a:r>
          </a:p>
          <a:p>
            <a:pPr marL="285750" indent="-285750">
              <a:buFont typeface="Arial" panose="020B0604020202020204" pitchFamily="34" charset="0"/>
              <a:buChar char="•"/>
            </a:pPr>
            <a:r>
              <a:rPr lang="en-US" dirty="0">
                <a:solidFill>
                  <a:srgbClr val="63B7C6"/>
                </a:solidFill>
              </a:rPr>
              <a:t>Identifying key factors that influence customer churn. </a:t>
            </a:r>
          </a:p>
          <a:p>
            <a:pPr marL="285750" indent="-285750">
              <a:buFont typeface="Arial" panose="020B0604020202020204" pitchFamily="34" charset="0"/>
              <a:buChar char="•"/>
            </a:pPr>
            <a:r>
              <a:rPr lang="en-US" dirty="0">
                <a:solidFill>
                  <a:srgbClr val="63B7C6"/>
                </a:solidFill>
              </a:rPr>
              <a:t>Building and training machine learning models for churn prediction. </a:t>
            </a:r>
          </a:p>
          <a:p>
            <a:pPr marL="285750" indent="-285750">
              <a:buFont typeface="Arial" panose="020B0604020202020204" pitchFamily="34" charset="0"/>
              <a:buChar char="•"/>
            </a:pPr>
            <a:r>
              <a:rPr lang="en-US" dirty="0">
                <a:solidFill>
                  <a:srgbClr val="63B7C6"/>
                </a:solidFill>
              </a:rPr>
              <a:t>Evaluating model performance and accuracy. </a:t>
            </a:r>
          </a:p>
          <a:p>
            <a:pPr marL="285750" indent="-285750">
              <a:buFont typeface="Arial" panose="020B0604020202020204" pitchFamily="34" charset="0"/>
              <a:buChar char="•"/>
            </a:pPr>
            <a:r>
              <a:rPr lang="en-US" dirty="0">
                <a:solidFill>
                  <a:srgbClr val="63B7C6"/>
                </a:solidFill>
              </a:rPr>
              <a:t>Providing insights to help companies improve customer retention strategies. </a:t>
            </a:r>
          </a:p>
          <a:p>
            <a:pPr marL="285750" indent="-285750">
              <a:buFont typeface="Arial" panose="020B0604020202020204" pitchFamily="34" charset="0"/>
              <a:buChar char="•"/>
            </a:pPr>
            <a:r>
              <a:rPr lang="en-US" dirty="0">
                <a:solidFill>
                  <a:srgbClr val="63B7C6"/>
                </a:solidFill>
              </a:rPr>
              <a:t>Developing a user-friendly interface for easy prediction and analysis.</a:t>
            </a:r>
          </a:p>
          <a:p>
            <a:endParaRPr lang="en-IN" dirty="0"/>
          </a:p>
        </p:txBody>
      </p:sp>
      <p:pic>
        <p:nvPicPr>
          <p:cNvPr id="12" name="Picture 11" descr="Picture">
            <a:extLst>
              <a:ext uri="{FF2B5EF4-FFF2-40B4-BE49-F238E27FC236}">
                <a16:creationId xmlns:a16="http://schemas.microsoft.com/office/drawing/2014/main" id="{7EBAD463-BEA2-F362-EC4D-C3FB6AAEA195}"/>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373348601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19" name="TextBox 18">
            <a:extLst>
              <a:ext uri="{FF2B5EF4-FFF2-40B4-BE49-F238E27FC236}">
                <a16:creationId xmlns:a16="http://schemas.microsoft.com/office/drawing/2014/main" id="{74C17645-4F69-202A-5029-1CB8F95BAEB3}"/>
              </a:ext>
            </a:extLst>
          </p:cNvPr>
          <p:cNvSpPr txBox="1"/>
          <p:nvPr/>
        </p:nvSpPr>
        <p:spPr>
          <a:xfrm>
            <a:off x="3454400" y="228600"/>
            <a:ext cx="3797300" cy="646331"/>
          </a:xfrm>
          <a:prstGeom prst="rect">
            <a:avLst/>
          </a:prstGeom>
          <a:noFill/>
        </p:spPr>
        <p:txBody>
          <a:bodyPr wrap="square" rtlCol="0">
            <a:spAutoFit/>
          </a:bodyPr>
          <a:lstStyle/>
          <a:p>
            <a:r>
              <a:rPr lang="en-US" sz="3600" dirty="0">
                <a:solidFill>
                  <a:srgbClr val="63B7C6"/>
                </a:solidFill>
                <a:latin typeface="Aharoni" panose="02010803020104030203" pitchFamily="2" charset="-79"/>
                <a:cs typeface="Aharoni" panose="02010803020104030203" pitchFamily="2" charset="-79"/>
              </a:rPr>
              <a:t>METHODOLOGY</a:t>
            </a:r>
            <a:endParaRPr lang="en-IN" sz="3600" dirty="0">
              <a:solidFill>
                <a:srgbClr val="63B7C6"/>
              </a:solidFill>
              <a:latin typeface="Aharoni" panose="02010803020104030203" pitchFamily="2" charset="-79"/>
              <a:cs typeface="Aharoni" panose="02010803020104030203" pitchFamily="2" charset="-79"/>
            </a:endParaRPr>
          </a:p>
        </p:txBody>
      </p:sp>
      <p:sp>
        <p:nvSpPr>
          <p:cNvPr id="20" name="TextBox 19">
            <a:extLst>
              <a:ext uri="{FF2B5EF4-FFF2-40B4-BE49-F238E27FC236}">
                <a16:creationId xmlns:a16="http://schemas.microsoft.com/office/drawing/2014/main" id="{EDAD3C78-2AA2-9A34-56B6-228466127D87}"/>
              </a:ext>
            </a:extLst>
          </p:cNvPr>
          <p:cNvSpPr txBox="1"/>
          <p:nvPr/>
        </p:nvSpPr>
        <p:spPr>
          <a:xfrm>
            <a:off x="368300" y="1206500"/>
            <a:ext cx="11176000" cy="3416320"/>
          </a:xfrm>
          <a:prstGeom prst="rect">
            <a:avLst/>
          </a:prstGeom>
          <a:noFill/>
        </p:spPr>
        <p:txBody>
          <a:bodyPr wrap="square" rtlCol="0">
            <a:spAutoFit/>
          </a:bodyPr>
          <a:lstStyle/>
          <a:p>
            <a:r>
              <a:rPr lang="en-US" dirty="0">
                <a:solidFill>
                  <a:srgbClr val="63B7C6"/>
                </a:solidFill>
              </a:rPr>
              <a:t>The methodology of this project follows a systematic machine learning process to predict customer churn accurately.</a:t>
            </a:r>
          </a:p>
          <a:p>
            <a:endParaRPr lang="en-US" dirty="0">
              <a:solidFill>
                <a:srgbClr val="63B7C6"/>
              </a:solidFill>
            </a:endParaRPr>
          </a:p>
          <a:p>
            <a:r>
              <a:rPr lang="en-US" dirty="0">
                <a:solidFill>
                  <a:srgbClr val="63B7C6"/>
                </a:solidFill>
              </a:rPr>
              <a:t>The steps involved are:</a:t>
            </a:r>
          </a:p>
          <a:p>
            <a:pPr marL="285750" indent="-285750">
              <a:buFont typeface="Arial" panose="020B0604020202020204" pitchFamily="34" charset="0"/>
              <a:buChar char="•"/>
            </a:pPr>
            <a:r>
              <a:rPr lang="en-US" b="1" dirty="0">
                <a:solidFill>
                  <a:srgbClr val="63B7C6"/>
                </a:solidFill>
              </a:rPr>
              <a:t>Data Collection</a:t>
            </a:r>
            <a:r>
              <a:rPr lang="en-US" dirty="0">
                <a:solidFill>
                  <a:srgbClr val="63B7C6"/>
                </a:solidFill>
              </a:rPr>
              <a:t> – Gather customer demographic, service usage, and billing data. </a:t>
            </a:r>
          </a:p>
          <a:p>
            <a:pPr marL="285750" indent="-285750">
              <a:buFont typeface="Arial" panose="020B0604020202020204" pitchFamily="34" charset="0"/>
              <a:buChar char="•"/>
            </a:pPr>
            <a:r>
              <a:rPr lang="en-US" b="1" dirty="0">
                <a:solidFill>
                  <a:srgbClr val="63B7C6"/>
                </a:solidFill>
              </a:rPr>
              <a:t>Data Preprocessing</a:t>
            </a:r>
            <a:r>
              <a:rPr lang="en-US" dirty="0">
                <a:solidFill>
                  <a:srgbClr val="63B7C6"/>
                </a:solidFill>
              </a:rPr>
              <a:t> – Clean missing values, remove duplicates, and encode categorical data. </a:t>
            </a:r>
          </a:p>
          <a:p>
            <a:pPr marL="285750" indent="-285750">
              <a:buFont typeface="Arial" panose="020B0604020202020204" pitchFamily="34" charset="0"/>
              <a:buChar char="•"/>
            </a:pPr>
            <a:r>
              <a:rPr lang="en-US" b="1" dirty="0">
                <a:solidFill>
                  <a:srgbClr val="63B7C6"/>
                </a:solidFill>
              </a:rPr>
              <a:t>Feature Engineering</a:t>
            </a:r>
            <a:r>
              <a:rPr lang="en-US" dirty="0">
                <a:solidFill>
                  <a:srgbClr val="63B7C6"/>
                </a:solidFill>
              </a:rPr>
              <a:t> – Select important features that affect churn prediction. </a:t>
            </a:r>
          </a:p>
          <a:p>
            <a:pPr marL="285750" indent="-285750">
              <a:buFont typeface="Arial" panose="020B0604020202020204" pitchFamily="34" charset="0"/>
              <a:buChar char="•"/>
            </a:pPr>
            <a:r>
              <a:rPr lang="en-US" b="1" dirty="0">
                <a:solidFill>
                  <a:srgbClr val="63B7C6"/>
                </a:solidFill>
              </a:rPr>
              <a:t>Model Training</a:t>
            </a:r>
            <a:r>
              <a:rPr lang="en-US" dirty="0">
                <a:solidFill>
                  <a:srgbClr val="63B7C6"/>
                </a:solidFill>
              </a:rPr>
              <a:t> – Train machine learning models such as Random Forest for prediction. </a:t>
            </a:r>
          </a:p>
          <a:p>
            <a:pPr marL="285750" indent="-285750">
              <a:buFont typeface="Arial" panose="020B0604020202020204" pitchFamily="34" charset="0"/>
              <a:buChar char="•"/>
            </a:pPr>
            <a:r>
              <a:rPr lang="en-US" b="1" dirty="0">
                <a:solidFill>
                  <a:srgbClr val="63B7C6"/>
                </a:solidFill>
              </a:rPr>
              <a:t>Model Evaluation</a:t>
            </a:r>
            <a:r>
              <a:rPr lang="en-US" dirty="0">
                <a:solidFill>
                  <a:srgbClr val="63B7C6"/>
                </a:solidFill>
              </a:rPr>
              <a:t> – Measure model accuracy, precision, recall, and performance. </a:t>
            </a:r>
          </a:p>
          <a:p>
            <a:pPr marL="285750" indent="-285750">
              <a:buFont typeface="Arial" panose="020B0604020202020204" pitchFamily="34" charset="0"/>
              <a:buChar char="•"/>
            </a:pPr>
            <a:r>
              <a:rPr lang="en-US" b="1" dirty="0">
                <a:solidFill>
                  <a:srgbClr val="63B7C6"/>
                </a:solidFill>
              </a:rPr>
              <a:t>API Deployment</a:t>
            </a:r>
            <a:r>
              <a:rPr lang="en-US" dirty="0">
                <a:solidFill>
                  <a:srgbClr val="63B7C6"/>
                </a:solidFill>
              </a:rPr>
              <a:t> – Deploy the trained model using </a:t>
            </a:r>
            <a:r>
              <a:rPr lang="en-US" dirty="0" err="1">
                <a:solidFill>
                  <a:srgbClr val="63B7C6"/>
                </a:solidFill>
              </a:rPr>
              <a:t>FastAPI</a:t>
            </a:r>
            <a:r>
              <a:rPr lang="en-US" dirty="0">
                <a:solidFill>
                  <a:srgbClr val="63B7C6"/>
                </a:solidFill>
              </a:rPr>
              <a:t>. </a:t>
            </a:r>
          </a:p>
          <a:p>
            <a:pPr marL="285750" indent="-285750">
              <a:buFont typeface="Arial" panose="020B0604020202020204" pitchFamily="34" charset="0"/>
              <a:buChar char="•"/>
            </a:pPr>
            <a:r>
              <a:rPr lang="en-US" b="1" dirty="0">
                <a:solidFill>
                  <a:srgbClr val="63B7C6"/>
                </a:solidFill>
              </a:rPr>
              <a:t>Interactive Dashboard</a:t>
            </a:r>
            <a:r>
              <a:rPr lang="en-US" dirty="0">
                <a:solidFill>
                  <a:srgbClr val="63B7C6"/>
                </a:solidFill>
              </a:rPr>
              <a:t> – Build a </a:t>
            </a:r>
            <a:r>
              <a:rPr lang="en-US" dirty="0" err="1">
                <a:solidFill>
                  <a:srgbClr val="63B7C6"/>
                </a:solidFill>
              </a:rPr>
              <a:t>Streamlit</a:t>
            </a:r>
            <a:r>
              <a:rPr lang="en-US" dirty="0">
                <a:solidFill>
                  <a:srgbClr val="63B7C6"/>
                </a:solidFill>
              </a:rPr>
              <a:t> dashboard for user-friendly predictions and analysis.</a:t>
            </a:r>
          </a:p>
          <a:p>
            <a:endParaRPr lang="en-IN" dirty="0"/>
          </a:p>
        </p:txBody>
      </p:sp>
      <p:sp>
        <p:nvSpPr>
          <p:cNvPr id="22" name="Rectangle 21">
            <a:extLst>
              <a:ext uri="{FF2B5EF4-FFF2-40B4-BE49-F238E27FC236}">
                <a16:creationId xmlns:a16="http://schemas.microsoft.com/office/drawing/2014/main" id="{469DE4C3-3001-A2C4-AA79-06C817B0A9AE}"/>
              </a:ext>
            </a:extLst>
          </p:cNvPr>
          <p:cNvSpPr/>
          <p:nvPr/>
        </p:nvSpPr>
        <p:spPr>
          <a:xfrm>
            <a:off x="571500" y="4622820"/>
            <a:ext cx="1981200" cy="3315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Data Collection</a:t>
            </a:r>
            <a:endParaRPr lang="en-IN" dirty="0"/>
          </a:p>
        </p:txBody>
      </p:sp>
      <p:sp>
        <p:nvSpPr>
          <p:cNvPr id="24" name="Rectangle 23">
            <a:extLst>
              <a:ext uri="{FF2B5EF4-FFF2-40B4-BE49-F238E27FC236}">
                <a16:creationId xmlns:a16="http://schemas.microsoft.com/office/drawing/2014/main" id="{34F42FE9-C447-CC5D-4895-1B2757A460F9}"/>
              </a:ext>
            </a:extLst>
          </p:cNvPr>
          <p:cNvSpPr/>
          <p:nvPr/>
        </p:nvSpPr>
        <p:spPr>
          <a:xfrm>
            <a:off x="3136900" y="462282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Data Preprocessing</a:t>
            </a:r>
            <a:endParaRPr lang="en-IN" dirty="0"/>
          </a:p>
        </p:txBody>
      </p:sp>
      <p:sp>
        <p:nvSpPr>
          <p:cNvPr id="25" name="Rectangle 24">
            <a:extLst>
              <a:ext uri="{FF2B5EF4-FFF2-40B4-BE49-F238E27FC236}">
                <a16:creationId xmlns:a16="http://schemas.microsoft.com/office/drawing/2014/main" id="{8457A820-9503-3357-3072-EDA82D37AACB}"/>
              </a:ext>
            </a:extLst>
          </p:cNvPr>
          <p:cNvSpPr/>
          <p:nvPr/>
        </p:nvSpPr>
        <p:spPr>
          <a:xfrm>
            <a:off x="5689600" y="462282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Feature Engineering</a:t>
            </a:r>
            <a:endParaRPr lang="en-IN" dirty="0"/>
          </a:p>
        </p:txBody>
      </p:sp>
      <p:sp>
        <p:nvSpPr>
          <p:cNvPr id="26" name="Rectangle 25">
            <a:extLst>
              <a:ext uri="{FF2B5EF4-FFF2-40B4-BE49-F238E27FC236}">
                <a16:creationId xmlns:a16="http://schemas.microsoft.com/office/drawing/2014/main" id="{772A9D19-A8BC-1CD9-74BA-361C7FD1C682}"/>
              </a:ext>
            </a:extLst>
          </p:cNvPr>
          <p:cNvSpPr/>
          <p:nvPr/>
        </p:nvSpPr>
        <p:spPr>
          <a:xfrm>
            <a:off x="8394700" y="462282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Model Training</a:t>
            </a:r>
            <a:endParaRPr lang="en-IN" dirty="0"/>
          </a:p>
        </p:txBody>
      </p:sp>
      <p:sp>
        <p:nvSpPr>
          <p:cNvPr id="27" name="Rectangle 26">
            <a:extLst>
              <a:ext uri="{FF2B5EF4-FFF2-40B4-BE49-F238E27FC236}">
                <a16:creationId xmlns:a16="http://schemas.microsoft.com/office/drawing/2014/main" id="{A9CC0051-8981-7CA5-12D4-2F32FBC641E3}"/>
              </a:ext>
            </a:extLst>
          </p:cNvPr>
          <p:cNvSpPr/>
          <p:nvPr/>
        </p:nvSpPr>
        <p:spPr>
          <a:xfrm>
            <a:off x="2197100" y="570230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Interactive Dashboard</a:t>
            </a:r>
            <a:endParaRPr lang="en-IN" dirty="0"/>
          </a:p>
        </p:txBody>
      </p:sp>
      <p:sp>
        <p:nvSpPr>
          <p:cNvPr id="29" name="Rectangle 28">
            <a:extLst>
              <a:ext uri="{FF2B5EF4-FFF2-40B4-BE49-F238E27FC236}">
                <a16:creationId xmlns:a16="http://schemas.microsoft.com/office/drawing/2014/main" id="{9A14E9C5-906A-9AAA-2D1D-7F710F92FA0A}"/>
              </a:ext>
            </a:extLst>
          </p:cNvPr>
          <p:cNvSpPr/>
          <p:nvPr/>
        </p:nvSpPr>
        <p:spPr>
          <a:xfrm>
            <a:off x="4851400" y="5702301"/>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API Deployment</a:t>
            </a:r>
            <a:endParaRPr lang="en-IN" dirty="0"/>
          </a:p>
        </p:txBody>
      </p:sp>
      <p:sp>
        <p:nvSpPr>
          <p:cNvPr id="30" name="Rectangle 29">
            <a:extLst>
              <a:ext uri="{FF2B5EF4-FFF2-40B4-BE49-F238E27FC236}">
                <a16:creationId xmlns:a16="http://schemas.microsoft.com/office/drawing/2014/main" id="{BAA14E05-65D6-63FD-6DA7-FF15A514F7B8}"/>
              </a:ext>
            </a:extLst>
          </p:cNvPr>
          <p:cNvSpPr/>
          <p:nvPr/>
        </p:nvSpPr>
        <p:spPr>
          <a:xfrm>
            <a:off x="7505700" y="5702300"/>
            <a:ext cx="1981200" cy="5714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63B7C6"/>
                </a:solidFill>
              </a:rPr>
              <a:t>Model Evaluation</a:t>
            </a:r>
            <a:endParaRPr lang="en-IN" dirty="0"/>
          </a:p>
        </p:txBody>
      </p:sp>
      <p:cxnSp>
        <p:nvCxnSpPr>
          <p:cNvPr id="34" name="Straight Arrow Connector 33">
            <a:extLst>
              <a:ext uri="{FF2B5EF4-FFF2-40B4-BE49-F238E27FC236}">
                <a16:creationId xmlns:a16="http://schemas.microsoft.com/office/drawing/2014/main" id="{35607733-47B4-5A88-A441-1EE1B7799022}"/>
              </a:ext>
            </a:extLst>
          </p:cNvPr>
          <p:cNvCxnSpPr>
            <a:cxnSpLocks/>
          </p:cNvCxnSpPr>
          <p:nvPr/>
        </p:nvCxnSpPr>
        <p:spPr>
          <a:xfrm>
            <a:off x="2654300" y="4813300"/>
            <a:ext cx="482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3FA1FD5-DDD4-2F98-C573-8F67E272453F}"/>
              </a:ext>
            </a:extLst>
          </p:cNvPr>
          <p:cNvCxnSpPr/>
          <p:nvPr/>
        </p:nvCxnSpPr>
        <p:spPr>
          <a:xfrm>
            <a:off x="5207000" y="4895860"/>
            <a:ext cx="482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BA3DB6B-7671-4255-FFFD-1163315CC06C}"/>
              </a:ext>
            </a:extLst>
          </p:cNvPr>
          <p:cNvCxnSpPr/>
          <p:nvPr/>
        </p:nvCxnSpPr>
        <p:spPr>
          <a:xfrm>
            <a:off x="7759700" y="4908560"/>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3F969F3C-E50A-7BFE-83D4-62A9ECF7A0DA}"/>
              </a:ext>
            </a:extLst>
          </p:cNvPr>
          <p:cNvCxnSpPr>
            <a:cxnSpLocks/>
          </p:cNvCxnSpPr>
          <p:nvPr/>
        </p:nvCxnSpPr>
        <p:spPr>
          <a:xfrm rot="5400000">
            <a:off x="9550400" y="4965700"/>
            <a:ext cx="1206500" cy="901700"/>
          </a:xfrm>
          <a:prstGeom prst="bentConnector3">
            <a:avLst>
              <a:gd name="adj1" fmla="val 10052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C097536-A120-245E-6470-B0DDAA6821F9}"/>
              </a:ext>
            </a:extLst>
          </p:cNvPr>
          <p:cNvCxnSpPr>
            <a:cxnSpLocks/>
          </p:cNvCxnSpPr>
          <p:nvPr/>
        </p:nvCxnSpPr>
        <p:spPr>
          <a:xfrm flipH="1">
            <a:off x="6946900" y="5988040"/>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CE293AD-DEFC-D339-6963-A01CF1449EA3}"/>
              </a:ext>
            </a:extLst>
          </p:cNvPr>
          <p:cNvCxnSpPr>
            <a:cxnSpLocks/>
          </p:cNvCxnSpPr>
          <p:nvPr/>
        </p:nvCxnSpPr>
        <p:spPr>
          <a:xfrm flipH="1">
            <a:off x="4279900" y="6019800"/>
            <a:ext cx="476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9" name="Picture 78" descr="Picture">
            <a:extLst>
              <a:ext uri="{FF2B5EF4-FFF2-40B4-BE49-F238E27FC236}">
                <a16:creationId xmlns:a16="http://schemas.microsoft.com/office/drawing/2014/main" id="{CF971037-E8EA-0ED1-07D9-401A5A4D2EC2}"/>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360727049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BD08-7B1F-DD22-EEE6-94789EA8FD68}"/>
              </a:ext>
            </a:extLst>
          </p:cNvPr>
          <p:cNvSpPr>
            <a:spLocks noGrp="1"/>
          </p:cNvSpPr>
          <p:nvPr>
            <p:ph type="title"/>
          </p:nvPr>
        </p:nvSpPr>
        <p:spPr>
          <a:xfrm>
            <a:off x="2273300" y="428625"/>
            <a:ext cx="5168900" cy="535531"/>
          </a:xfrm>
        </p:spPr>
        <p:txBody>
          <a:bodyPr/>
          <a:lstStyle/>
          <a:p>
            <a:pPr algn="ctr"/>
            <a:r>
              <a:rPr lang="en-US" dirty="0">
                <a:solidFill>
                  <a:srgbClr val="63B7C6"/>
                </a:solidFill>
              </a:rPr>
              <a:t>IMPLEMENTATION DETAILS</a:t>
            </a:r>
            <a:endParaRPr lang="en-IN" dirty="0">
              <a:solidFill>
                <a:srgbClr val="63B7C6"/>
              </a:solidFill>
            </a:endParaRPr>
          </a:p>
        </p:txBody>
      </p:sp>
      <p:sp>
        <p:nvSpPr>
          <p:cNvPr id="3" name="Slide Number Placeholder 2">
            <a:extLst>
              <a:ext uri="{FF2B5EF4-FFF2-40B4-BE49-F238E27FC236}">
                <a16:creationId xmlns:a16="http://schemas.microsoft.com/office/drawing/2014/main" id="{D253AF47-B76B-677B-614F-34B6829405EC}"/>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5" name="TextBox 4">
            <a:extLst>
              <a:ext uri="{FF2B5EF4-FFF2-40B4-BE49-F238E27FC236}">
                <a16:creationId xmlns:a16="http://schemas.microsoft.com/office/drawing/2014/main" id="{C0F4F65D-B03B-75AD-CEFE-EBA8DAFC5800}"/>
              </a:ext>
            </a:extLst>
          </p:cNvPr>
          <p:cNvSpPr txBox="1"/>
          <p:nvPr/>
        </p:nvSpPr>
        <p:spPr>
          <a:xfrm>
            <a:off x="419100" y="1859339"/>
            <a:ext cx="10985500" cy="3139321"/>
          </a:xfrm>
          <a:prstGeom prst="rect">
            <a:avLst/>
          </a:prstGeom>
          <a:noFill/>
        </p:spPr>
        <p:txBody>
          <a:bodyPr wrap="square" rtlCol="0">
            <a:spAutoFit/>
          </a:bodyPr>
          <a:lstStyle/>
          <a:p>
            <a:r>
              <a:rPr lang="en-US" dirty="0">
                <a:solidFill>
                  <a:srgbClr val="63B7C6"/>
                </a:solidFill>
              </a:rPr>
              <a:t>The Customer Churn Prediction project was implemented using Python and machine learning libraries. Customer data was collected and preprocessed by handling missing values, encoding categorical features, and scaling numerical data.</a:t>
            </a:r>
          </a:p>
          <a:p>
            <a:r>
              <a:rPr lang="en-US" dirty="0">
                <a:solidFill>
                  <a:srgbClr val="63B7C6"/>
                </a:solidFill>
              </a:rPr>
              <a:t>Feature engineering techniques were applied to select the most relevant attributes affecting churn. The processed dataset was divided into training and testing sets. A Random Forest machine learning model was trained to predict whether a customer is likely to churn or not.</a:t>
            </a:r>
          </a:p>
          <a:p>
            <a:r>
              <a:rPr lang="en-US" dirty="0">
                <a:solidFill>
                  <a:srgbClr val="63B7C6"/>
                </a:solidFill>
              </a:rPr>
              <a:t>The trained model was saved and deployed using </a:t>
            </a:r>
            <a:r>
              <a:rPr lang="en-US" dirty="0" err="1">
                <a:solidFill>
                  <a:srgbClr val="63B7C6"/>
                </a:solidFill>
              </a:rPr>
              <a:t>FastAPI</a:t>
            </a:r>
            <a:r>
              <a:rPr lang="en-US" dirty="0">
                <a:solidFill>
                  <a:srgbClr val="63B7C6"/>
                </a:solidFill>
              </a:rPr>
              <a:t> to provide prediction services through APIs. A </a:t>
            </a:r>
            <a:r>
              <a:rPr lang="en-US" dirty="0" err="1">
                <a:solidFill>
                  <a:srgbClr val="63B7C6"/>
                </a:solidFill>
              </a:rPr>
              <a:t>Streamlit</a:t>
            </a:r>
            <a:r>
              <a:rPr lang="en-US" dirty="0">
                <a:solidFill>
                  <a:srgbClr val="63B7C6"/>
                </a:solidFill>
              </a:rPr>
              <a:t>-based interactive dashboard was developed to allow users to input customer details and view churn predictions in a user-friendly manner.</a:t>
            </a:r>
          </a:p>
          <a:p>
            <a:r>
              <a:rPr lang="en-US" dirty="0">
                <a:solidFill>
                  <a:srgbClr val="63B7C6"/>
                </a:solidFill>
              </a:rPr>
              <a:t>Tools and technologies used include Python, Pandas, NumPy, Scikit-learn, </a:t>
            </a:r>
            <a:r>
              <a:rPr lang="en-US" dirty="0" err="1">
                <a:solidFill>
                  <a:srgbClr val="63B7C6"/>
                </a:solidFill>
              </a:rPr>
              <a:t>FastAPI</a:t>
            </a:r>
            <a:r>
              <a:rPr lang="en-US" dirty="0">
                <a:solidFill>
                  <a:srgbClr val="63B7C6"/>
                </a:solidFill>
              </a:rPr>
              <a:t>, </a:t>
            </a:r>
            <a:r>
              <a:rPr lang="en-US" dirty="0" err="1">
                <a:solidFill>
                  <a:srgbClr val="63B7C6"/>
                </a:solidFill>
              </a:rPr>
              <a:t>Streamlit</a:t>
            </a:r>
            <a:r>
              <a:rPr lang="en-US" dirty="0">
                <a:solidFill>
                  <a:srgbClr val="63B7C6"/>
                </a:solidFill>
              </a:rPr>
              <a:t>, and Docker.</a:t>
            </a:r>
          </a:p>
          <a:p>
            <a:endParaRPr lang="en-IN" dirty="0"/>
          </a:p>
        </p:txBody>
      </p:sp>
      <p:pic>
        <p:nvPicPr>
          <p:cNvPr id="7" name="Picture 6" descr="Picture">
            <a:extLst>
              <a:ext uri="{FF2B5EF4-FFF2-40B4-BE49-F238E27FC236}">
                <a16:creationId xmlns:a16="http://schemas.microsoft.com/office/drawing/2014/main" id="{4965D7C6-BE94-795E-9031-63833488B3BF}"/>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238317450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5A96-31FF-3202-30B6-55881FC5B5D7}"/>
              </a:ext>
            </a:extLst>
          </p:cNvPr>
          <p:cNvSpPr>
            <a:spLocks noGrp="1"/>
          </p:cNvSpPr>
          <p:nvPr>
            <p:ph type="title"/>
          </p:nvPr>
        </p:nvSpPr>
        <p:spPr>
          <a:xfrm>
            <a:off x="2705100" y="403225"/>
            <a:ext cx="5473700" cy="604781"/>
          </a:xfrm>
        </p:spPr>
        <p:txBody>
          <a:bodyPr/>
          <a:lstStyle/>
          <a:p>
            <a:r>
              <a:rPr lang="en-US" sz="3600" dirty="0">
                <a:solidFill>
                  <a:srgbClr val="63B7C6"/>
                </a:solidFill>
                <a:latin typeface="Aharoni" panose="02010803020104030203" pitchFamily="2" charset="-79"/>
                <a:cs typeface="Aharoni" panose="02010803020104030203" pitchFamily="2" charset="-79"/>
              </a:rPr>
              <a:t>RESULT ANALYSIS</a:t>
            </a:r>
            <a:endParaRPr lang="en-IN" sz="3600" dirty="0">
              <a:solidFill>
                <a:srgbClr val="63B7C6"/>
              </a:solidFill>
              <a:latin typeface="Aharoni" panose="02010803020104030203" pitchFamily="2" charset="-79"/>
              <a:cs typeface="Aharoni" panose="02010803020104030203" pitchFamily="2" charset="-79"/>
            </a:endParaRPr>
          </a:p>
        </p:txBody>
      </p:sp>
      <p:sp>
        <p:nvSpPr>
          <p:cNvPr id="3" name="Slide Number Placeholder 2">
            <a:extLst>
              <a:ext uri="{FF2B5EF4-FFF2-40B4-BE49-F238E27FC236}">
                <a16:creationId xmlns:a16="http://schemas.microsoft.com/office/drawing/2014/main" id="{8AE83CC8-1F46-5491-346C-2825C24DF327}"/>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7" name="Rectangle 2">
            <a:extLst>
              <a:ext uri="{FF2B5EF4-FFF2-40B4-BE49-F238E27FC236}">
                <a16:creationId xmlns:a16="http://schemas.microsoft.com/office/drawing/2014/main" id="{3CAA6CE5-8E00-C699-28AC-93B42FE1FE3D}"/>
              </a:ext>
            </a:extLst>
          </p:cNvPr>
          <p:cNvSpPr>
            <a:spLocks noChangeArrowheads="1"/>
          </p:cNvSpPr>
          <p:nvPr/>
        </p:nvSpPr>
        <p:spPr bwMode="auto">
          <a:xfrm rot="10800000" flipV="1">
            <a:off x="266700" y="1582340"/>
            <a:ext cx="119253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The machine learning model was successfully trained to predict customer churn based on customer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The Random Forest model provided high accuracy and reliable prediction results compared to basic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Important factors affecting churn were identified, such as contract type, tenure, monthly charges, and payment method.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Customers with higher monthly charges and shorter tenure showed a greater probability of churn.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Long-term contract customers were less likely to leave the company.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The model evaluation metrics such as accuracy, precision, recall, and F1-score indicated good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The confusion matrix showed that most churn and non-churn cases were classified correctly.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The </a:t>
            </a:r>
            <a:r>
              <a:rPr kumimoji="0" lang="en-US" altLang="en-US" sz="1800" b="0" i="0" u="none" strike="noStrike" cap="none" normalizeH="0" baseline="0" dirty="0" err="1">
                <a:ln>
                  <a:noFill/>
                </a:ln>
                <a:solidFill>
                  <a:srgbClr val="63B7C6"/>
                </a:solidFill>
                <a:effectLst/>
                <a:latin typeface="Arial" panose="020B0604020202020204" pitchFamily="34" charset="0"/>
              </a:rPr>
              <a:t>FastAPI</a:t>
            </a:r>
            <a:r>
              <a:rPr kumimoji="0" lang="en-US" altLang="en-US" sz="1800" b="0" i="0" u="none" strike="noStrike" cap="none" normalizeH="0" baseline="0" dirty="0">
                <a:ln>
                  <a:noFill/>
                </a:ln>
                <a:solidFill>
                  <a:srgbClr val="63B7C6"/>
                </a:solidFill>
                <a:effectLst/>
                <a:latin typeface="Arial" panose="020B0604020202020204" pitchFamily="34" charset="0"/>
              </a:rPr>
              <a:t> integration successfully generated predictions through APIs.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The </a:t>
            </a:r>
            <a:r>
              <a:rPr kumimoji="0" lang="en-US" altLang="en-US" sz="1800" b="0" i="0" u="none" strike="noStrike" cap="none" normalizeH="0" baseline="0" dirty="0" err="1">
                <a:ln>
                  <a:noFill/>
                </a:ln>
                <a:solidFill>
                  <a:srgbClr val="63B7C6"/>
                </a:solidFill>
                <a:effectLst/>
                <a:latin typeface="Arial" panose="020B0604020202020204" pitchFamily="34" charset="0"/>
              </a:rPr>
              <a:t>Streamlit</a:t>
            </a:r>
            <a:r>
              <a:rPr kumimoji="0" lang="en-US" altLang="en-US" sz="1800" b="0" i="0" u="none" strike="noStrike" cap="none" normalizeH="0" baseline="0" dirty="0">
                <a:ln>
                  <a:noFill/>
                </a:ln>
                <a:solidFill>
                  <a:srgbClr val="63B7C6"/>
                </a:solidFill>
                <a:effectLst/>
                <a:latin typeface="Arial" panose="020B0604020202020204" pitchFamily="34" charset="0"/>
              </a:rPr>
              <a:t> dashboard provided an easy-to-use interface for entering customer details and viewing 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63B7C6"/>
                </a:solidFill>
                <a:effectLst/>
                <a:latin typeface="Arial" panose="020B0604020202020204" pitchFamily="34" charset="0"/>
              </a:rPr>
              <a:t>Overall, the project can help companies take preventive actions to retain valuable customers and improve business growth. </a:t>
            </a:r>
          </a:p>
        </p:txBody>
      </p:sp>
      <p:pic>
        <p:nvPicPr>
          <p:cNvPr id="9" name="Picture 8" descr="Picture">
            <a:extLst>
              <a:ext uri="{FF2B5EF4-FFF2-40B4-BE49-F238E27FC236}">
                <a16:creationId xmlns:a16="http://schemas.microsoft.com/office/drawing/2014/main" id="{8B4D9A15-8DE7-5631-8719-942BFCE932E8}"/>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126766557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1916D1-F644-AD4D-3F81-D31EE814DF0D}"/>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TextBox 3">
            <a:extLst>
              <a:ext uri="{FF2B5EF4-FFF2-40B4-BE49-F238E27FC236}">
                <a16:creationId xmlns:a16="http://schemas.microsoft.com/office/drawing/2014/main" id="{3D1C37DB-0FEE-0C22-D842-2084CA9E3D4A}"/>
              </a:ext>
            </a:extLst>
          </p:cNvPr>
          <p:cNvSpPr txBox="1"/>
          <p:nvPr/>
        </p:nvSpPr>
        <p:spPr>
          <a:xfrm>
            <a:off x="1320800" y="254000"/>
            <a:ext cx="6299200" cy="1200329"/>
          </a:xfrm>
          <a:prstGeom prst="rect">
            <a:avLst/>
          </a:prstGeom>
          <a:noFill/>
        </p:spPr>
        <p:txBody>
          <a:bodyPr wrap="square" rtlCol="0">
            <a:spAutoFit/>
          </a:bodyPr>
          <a:lstStyle/>
          <a:p>
            <a:pPr algn="ctr"/>
            <a:r>
              <a:rPr lang="en-US" sz="3600" dirty="0">
                <a:solidFill>
                  <a:srgbClr val="63B7C6"/>
                </a:solidFill>
                <a:latin typeface="Aharoni" panose="02010803020104030203" pitchFamily="2" charset="-79"/>
                <a:cs typeface="Aharoni" panose="02010803020104030203" pitchFamily="2" charset="-79"/>
              </a:rPr>
              <a:t>CONCLUSION &amp; FUTURE ENHANCEMENT</a:t>
            </a:r>
            <a:endParaRPr lang="en-IN" sz="3600" dirty="0">
              <a:solidFill>
                <a:srgbClr val="63B7C6"/>
              </a:solidFill>
              <a:latin typeface="Aharoni" panose="02010803020104030203" pitchFamily="2" charset="-79"/>
              <a:cs typeface="Aharoni" panose="02010803020104030203" pitchFamily="2" charset="-79"/>
            </a:endParaRPr>
          </a:p>
        </p:txBody>
      </p:sp>
      <p:sp>
        <p:nvSpPr>
          <p:cNvPr id="5" name="TextBox 4">
            <a:extLst>
              <a:ext uri="{FF2B5EF4-FFF2-40B4-BE49-F238E27FC236}">
                <a16:creationId xmlns:a16="http://schemas.microsoft.com/office/drawing/2014/main" id="{E7D5462E-3B2A-7208-250A-0F37F95800C3}"/>
              </a:ext>
            </a:extLst>
          </p:cNvPr>
          <p:cNvSpPr txBox="1"/>
          <p:nvPr/>
        </p:nvSpPr>
        <p:spPr>
          <a:xfrm>
            <a:off x="381000" y="1454329"/>
            <a:ext cx="9461500" cy="2616101"/>
          </a:xfrm>
          <a:prstGeom prst="rect">
            <a:avLst/>
          </a:prstGeom>
          <a:noFill/>
        </p:spPr>
        <p:txBody>
          <a:bodyPr wrap="square" rtlCol="0">
            <a:spAutoFit/>
          </a:bodyPr>
          <a:lstStyle/>
          <a:p>
            <a:r>
              <a:rPr lang="en-US" sz="2000" b="1" dirty="0">
                <a:solidFill>
                  <a:srgbClr val="63B7C6"/>
                </a:solidFill>
              </a:rPr>
              <a:t>Conclusion</a:t>
            </a:r>
          </a:p>
          <a:p>
            <a:pPr marL="285750" indent="-285750">
              <a:buFont typeface="Arial" panose="020B0604020202020204" pitchFamily="34" charset="0"/>
              <a:buChar char="•"/>
            </a:pPr>
            <a:r>
              <a:rPr lang="en-US" dirty="0">
                <a:solidFill>
                  <a:srgbClr val="63B7C6"/>
                </a:solidFill>
              </a:rPr>
              <a:t>The project successfully developed a machine learning model to predict customer churn. </a:t>
            </a:r>
          </a:p>
          <a:p>
            <a:pPr marL="285750" indent="-285750">
              <a:buFont typeface="Arial" panose="020B0604020202020204" pitchFamily="34" charset="0"/>
              <a:buChar char="•"/>
            </a:pPr>
            <a:r>
              <a:rPr lang="en-US" dirty="0">
                <a:solidFill>
                  <a:srgbClr val="63B7C6"/>
                </a:solidFill>
              </a:rPr>
              <a:t>Random Forest algorithm provided accurate and reliable predictions. </a:t>
            </a:r>
          </a:p>
          <a:p>
            <a:pPr marL="285750" indent="-285750">
              <a:buFont typeface="Arial" panose="020B0604020202020204" pitchFamily="34" charset="0"/>
              <a:buChar char="•"/>
            </a:pPr>
            <a:r>
              <a:rPr lang="en-US" dirty="0">
                <a:solidFill>
                  <a:srgbClr val="63B7C6"/>
                </a:solidFill>
              </a:rPr>
              <a:t>Key factors influencing churn were identified, helping in better business understanding. </a:t>
            </a:r>
          </a:p>
          <a:p>
            <a:pPr marL="285750" indent="-285750">
              <a:buFont typeface="Arial" panose="020B0604020202020204" pitchFamily="34" charset="0"/>
              <a:buChar char="•"/>
            </a:pPr>
            <a:r>
              <a:rPr lang="en-US" dirty="0">
                <a:solidFill>
                  <a:srgbClr val="63B7C6"/>
                </a:solidFill>
              </a:rPr>
              <a:t>The system enables companies to identify at-risk customers in advance. </a:t>
            </a:r>
          </a:p>
          <a:p>
            <a:pPr marL="285750" indent="-285750">
              <a:buFont typeface="Arial" panose="020B0604020202020204" pitchFamily="34" charset="0"/>
              <a:buChar char="•"/>
            </a:pPr>
            <a:r>
              <a:rPr lang="en-US" dirty="0">
                <a:solidFill>
                  <a:srgbClr val="63B7C6"/>
                </a:solidFill>
              </a:rPr>
              <a:t>Integration with </a:t>
            </a:r>
            <a:r>
              <a:rPr lang="en-US" dirty="0" err="1">
                <a:solidFill>
                  <a:srgbClr val="63B7C6"/>
                </a:solidFill>
              </a:rPr>
              <a:t>FastAPI</a:t>
            </a:r>
            <a:r>
              <a:rPr lang="en-US" dirty="0">
                <a:solidFill>
                  <a:srgbClr val="63B7C6"/>
                </a:solidFill>
              </a:rPr>
              <a:t> and </a:t>
            </a:r>
            <a:r>
              <a:rPr lang="en-US" dirty="0" err="1">
                <a:solidFill>
                  <a:srgbClr val="63B7C6"/>
                </a:solidFill>
              </a:rPr>
              <a:t>Streamlit</a:t>
            </a:r>
            <a:r>
              <a:rPr lang="en-US" dirty="0">
                <a:solidFill>
                  <a:srgbClr val="63B7C6"/>
                </a:solidFill>
              </a:rPr>
              <a:t> made the project practical and user-friendly. </a:t>
            </a:r>
          </a:p>
          <a:p>
            <a:pPr marL="285750" indent="-285750">
              <a:buFont typeface="Arial" panose="020B0604020202020204" pitchFamily="34" charset="0"/>
              <a:buChar char="•"/>
            </a:pPr>
            <a:r>
              <a:rPr lang="en-US" dirty="0">
                <a:solidFill>
                  <a:srgbClr val="63B7C6"/>
                </a:solidFill>
              </a:rPr>
              <a:t>Overall, the project demonstrates how data-driven decisions can improve customer retention and business performance. </a:t>
            </a:r>
          </a:p>
          <a:p>
            <a:endParaRPr lang="en-IN" dirty="0"/>
          </a:p>
        </p:txBody>
      </p:sp>
      <p:sp>
        <p:nvSpPr>
          <p:cNvPr id="7" name="TextBox 6">
            <a:extLst>
              <a:ext uri="{FF2B5EF4-FFF2-40B4-BE49-F238E27FC236}">
                <a16:creationId xmlns:a16="http://schemas.microsoft.com/office/drawing/2014/main" id="{F9026607-3943-EE30-AE98-81D52970AA1C}"/>
              </a:ext>
            </a:extLst>
          </p:cNvPr>
          <p:cNvSpPr txBox="1"/>
          <p:nvPr/>
        </p:nvSpPr>
        <p:spPr>
          <a:xfrm rot="10800000" flipH="1" flipV="1">
            <a:off x="533400" y="3926066"/>
            <a:ext cx="10229269" cy="2616101"/>
          </a:xfrm>
          <a:prstGeom prst="rect">
            <a:avLst/>
          </a:prstGeom>
          <a:noFill/>
        </p:spPr>
        <p:txBody>
          <a:bodyPr wrap="square" rtlCol="0">
            <a:spAutoFit/>
          </a:bodyPr>
          <a:lstStyle/>
          <a:p>
            <a:r>
              <a:rPr lang="en-US" sz="2000" b="1" dirty="0">
                <a:solidFill>
                  <a:srgbClr val="63B7C6"/>
                </a:solidFill>
              </a:rPr>
              <a:t>Future Enhancements</a:t>
            </a:r>
          </a:p>
          <a:p>
            <a:pPr marL="285750" indent="-285750">
              <a:buFont typeface="Arial" panose="020B0604020202020204" pitchFamily="34" charset="0"/>
              <a:buChar char="•"/>
            </a:pPr>
            <a:r>
              <a:rPr lang="en-US" dirty="0">
                <a:solidFill>
                  <a:srgbClr val="63B7C6"/>
                </a:solidFill>
              </a:rPr>
              <a:t>Improve model accuracy using advanced algorithms like </a:t>
            </a:r>
            <a:r>
              <a:rPr lang="en-US" dirty="0" err="1">
                <a:solidFill>
                  <a:srgbClr val="63B7C6"/>
                </a:solidFill>
              </a:rPr>
              <a:t>XGBoost</a:t>
            </a:r>
            <a:r>
              <a:rPr lang="en-US" dirty="0">
                <a:solidFill>
                  <a:srgbClr val="63B7C6"/>
                </a:solidFill>
              </a:rPr>
              <a:t> or Deep Learning. </a:t>
            </a:r>
          </a:p>
          <a:p>
            <a:pPr marL="285750" indent="-285750">
              <a:buFont typeface="Arial" panose="020B0604020202020204" pitchFamily="34" charset="0"/>
              <a:buChar char="•"/>
            </a:pPr>
            <a:r>
              <a:rPr lang="en-US" dirty="0">
                <a:solidFill>
                  <a:srgbClr val="63B7C6"/>
                </a:solidFill>
              </a:rPr>
              <a:t>Use real-time data for continuous prediction and monitoring. </a:t>
            </a:r>
          </a:p>
          <a:p>
            <a:pPr marL="285750" indent="-285750">
              <a:buFont typeface="Arial" panose="020B0604020202020204" pitchFamily="34" charset="0"/>
              <a:buChar char="•"/>
            </a:pPr>
            <a:r>
              <a:rPr lang="en-US" dirty="0">
                <a:solidFill>
                  <a:srgbClr val="63B7C6"/>
                </a:solidFill>
              </a:rPr>
              <a:t>Integrate the system with company CRM systems. </a:t>
            </a:r>
          </a:p>
          <a:p>
            <a:pPr marL="285750" indent="-285750">
              <a:buFont typeface="Arial" panose="020B0604020202020204" pitchFamily="34" charset="0"/>
              <a:buChar char="•"/>
            </a:pPr>
            <a:r>
              <a:rPr lang="en-US" dirty="0">
                <a:solidFill>
                  <a:srgbClr val="63B7C6"/>
                </a:solidFill>
              </a:rPr>
              <a:t>Enhance the dashboard with more visualizations and insights. </a:t>
            </a:r>
          </a:p>
          <a:p>
            <a:pPr marL="285750" indent="-285750">
              <a:buFont typeface="Arial" panose="020B0604020202020204" pitchFamily="34" charset="0"/>
              <a:buChar char="•"/>
            </a:pPr>
            <a:r>
              <a:rPr lang="en-US" dirty="0">
                <a:solidFill>
                  <a:srgbClr val="63B7C6"/>
                </a:solidFill>
              </a:rPr>
              <a:t>Deploy the application on cloud platforms for wider accessibility. </a:t>
            </a:r>
          </a:p>
          <a:p>
            <a:pPr marL="285750" indent="-285750">
              <a:buFont typeface="Arial" panose="020B0604020202020204" pitchFamily="34" charset="0"/>
              <a:buChar char="•"/>
            </a:pPr>
            <a:r>
              <a:rPr lang="en-US" dirty="0">
                <a:solidFill>
                  <a:srgbClr val="63B7C6"/>
                </a:solidFill>
              </a:rPr>
              <a:t>Include customer feedback and behavioral data for better predictions. </a:t>
            </a:r>
          </a:p>
          <a:p>
            <a:pPr marL="285750" indent="-285750">
              <a:buFont typeface="Arial" panose="020B0604020202020204" pitchFamily="34" charset="0"/>
              <a:buChar char="•"/>
            </a:pPr>
            <a:r>
              <a:rPr lang="en-US" dirty="0">
                <a:solidFill>
                  <a:srgbClr val="63B7C6"/>
                </a:solidFill>
              </a:rPr>
              <a:t>Implement automated alerts for high-risk customers. </a:t>
            </a:r>
          </a:p>
          <a:p>
            <a:endParaRPr lang="en-IN" dirty="0"/>
          </a:p>
        </p:txBody>
      </p:sp>
      <p:pic>
        <p:nvPicPr>
          <p:cNvPr id="9" name="Picture 8" descr="Picture">
            <a:extLst>
              <a:ext uri="{FF2B5EF4-FFF2-40B4-BE49-F238E27FC236}">
                <a16:creationId xmlns:a16="http://schemas.microsoft.com/office/drawing/2014/main" id="{AED086C2-77CD-9341-734D-F263E3EC4C1B}"/>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50669619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217242" y="2807208"/>
            <a:ext cx="4599858" cy="1663192"/>
          </a:xfrm>
        </p:spPr>
        <p:txBody>
          <a:bodyPr/>
          <a:lstStyle/>
          <a:p>
            <a:pPr algn="ctr"/>
            <a:r>
              <a:rPr lang="en-US" sz="6600" dirty="0">
                <a:solidFill>
                  <a:srgbClr val="63B7C6"/>
                </a:solidFill>
                <a:latin typeface="Aharoni" panose="02010803020104030203" pitchFamily="2" charset="-79"/>
                <a:cs typeface="Aharoni" panose="02010803020104030203" pitchFamily="2" charset="-79"/>
              </a:rPr>
              <a:t>Thank You </a:t>
            </a:r>
            <a:endParaRPr lang="en-GB" sz="6600" dirty="0">
              <a:solidFill>
                <a:srgbClr val="63B7C6"/>
              </a:solidFill>
              <a:latin typeface="Aharoni" panose="02010803020104030203" pitchFamily="2" charset="-79"/>
              <a:cs typeface="Aharoni" panose="02010803020104030203" pitchFamily="2" charset="-79"/>
            </a:endParaRPr>
          </a:p>
        </p:txBody>
      </p:sp>
      <p:pic>
        <p:nvPicPr>
          <p:cNvPr id="4" name="Picture 3" descr="Picture">
            <a:extLst>
              <a:ext uri="{FF2B5EF4-FFF2-40B4-BE49-F238E27FC236}">
                <a16:creationId xmlns:a16="http://schemas.microsoft.com/office/drawing/2014/main" id="{069168EC-A31B-DE7B-84D4-9AD5320C6CDF}"/>
              </a:ext>
            </a:extLst>
          </p:cNvPr>
          <p:cNvPicPr>
            <a:picLocks noChangeAspect="1" noChangeArrowheads="1"/>
          </p:cNvPicPr>
          <p:nvPr/>
        </p:nvPicPr>
        <p:blipFill>
          <a:blip r:embed="rId2">
            <a:clrChange>
              <a:clrFrom>
                <a:srgbClr val="F7ECF2"/>
              </a:clrFrom>
              <a:clrTo>
                <a:srgbClr val="F7ECF2">
                  <a:alpha val="0"/>
                </a:srgbClr>
              </a:clrTo>
            </a:clrChange>
          </a:blip>
          <a:srcRect l="5696" t="7365" r="84404" b="83815"/>
          <a:stretch>
            <a:fillRect/>
          </a:stretch>
        </p:blipFill>
        <p:spPr bwMode="auto">
          <a:xfrm>
            <a:off x="11118053" y="5715957"/>
            <a:ext cx="928694" cy="1142043"/>
          </a:xfrm>
          <a:prstGeom prst="rect">
            <a:avLst/>
          </a:prstGeom>
          <a:noFill/>
        </p:spPr>
      </p:pic>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144</TotalTime>
  <Words>914</Words>
  <Application>Microsoft Office PowerPoint</Application>
  <PresentationFormat>Widescreen</PresentationFormat>
  <Paragraphs>92</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Aharoni</vt:lpstr>
      <vt:lpstr>Arial</vt:lpstr>
      <vt:lpstr>Arial Rounded MT Bold</vt:lpstr>
      <vt:lpstr>Broadway</vt:lpstr>
      <vt:lpstr>Calibri</vt:lpstr>
      <vt:lpstr>Trade Gothic LT Pro</vt:lpstr>
      <vt:lpstr>Trebuchet MS</vt:lpstr>
      <vt:lpstr>Office Theme</vt:lpstr>
      <vt:lpstr>Customer Churn Prediction and Customer lifetime Value Estimation</vt:lpstr>
      <vt:lpstr>INTRODUCTION</vt:lpstr>
      <vt:lpstr>PowerPoint Presentation</vt:lpstr>
      <vt:lpstr>PowerPoint Presentation</vt:lpstr>
      <vt:lpstr>PowerPoint Presentation</vt:lpstr>
      <vt:lpstr>IMPLEMENTATION DETAILS</vt:lpstr>
      <vt:lpstr>RESULT ANALYSIS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 singh</dc:creator>
  <cp:lastModifiedBy>riya singh</cp:lastModifiedBy>
  <cp:revision>1</cp:revision>
  <dcterms:created xsi:type="dcterms:W3CDTF">2026-04-27T16:51:43Z</dcterms:created>
  <dcterms:modified xsi:type="dcterms:W3CDTF">2026-04-27T19:15:50Z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